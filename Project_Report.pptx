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  <p:sldMasterId id="2147483655" r:id="rId4"/>
    <p:sldMasterId id="214748365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E1D953C-0228-4F63-B542-68C4E2FED4B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5D0ED93-E285-4FE9-8BA2-1DE7E75830F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1D08FA0-9CB5-4C55-9C75-6FA5DB24341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FD35416-7F4E-47E8-9D60-1CA0D90F341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3D134BA-CCC1-42FB-9A4F-1BBE7E86FF7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454852A4-EC99-44BA-B46B-87AEE9DD025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89916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877824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D6DE115-088C-4A3B-B570-4456A7D9EDC4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60948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89916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sldNum" idx="5"/>
          </p:nvPr>
        </p:nvSpPr>
        <p:spPr>
          <a:xfrm>
            <a:off x="877824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C8891F-C95A-42C1-8CF8-B8D28BAE9D6D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6"/>
          </p:nvPr>
        </p:nvSpPr>
        <p:spPr>
          <a:xfrm>
            <a:off x="60948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89916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8"/>
          </p:nvPr>
        </p:nvSpPr>
        <p:spPr>
          <a:xfrm>
            <a:off x="877824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D2CE35-6AEA-49D1-815A-9FDE8DA3E88B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9"/>
          </p:nvPr>
        </p:nvSpPr>
        <p:spPr>
          <a:xfrm>
            <a:off x="60948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89916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sldNum" idx="11"/>
          </p:nvPr>
        </p:nvSpPr>
        <p:spPr>
          <a:xfrm>
            <a:off x="877824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8FAF3C-1857-49A5-B423-1329C89B5548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dt" idx="12"/>
          </p:nvPr>
        </p:nvSpPr>
        <p:spPr>
          <a:xfrm>
            <a:off x="60948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845960" y="574920"/>
            <a:ext cx="2508480" cy="26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89916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sldNum" idx="14"/>
          </p:nvPr>
        </p:nvSpPr>
        <p:spPr>
          <a:xfrm>
            <a:off x="877824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CBED9B-A547-425B-8E16-B4397CB09833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dt" idx="15"/>
          </p:nvPr>
        </p:nvSpPr>
        <p:spPr>
          <a:xfrm>
            <a:off x="609480" y="6378120"/>
            <a:ext cx="2801880" cy="34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cross-encoder/stsb-roberta-large" TargetMode="External"/><Relationship Id="rId3" Type="http://schemas.openxmlformats.org/officeDocument/2006/relationships/hyperlink" Target="https://arxiv.org/abs/2111.09543" TargetMode="External"/><Relationship Id="rId7" Type="http://schemas.openxmlformats.org/officeDocument/2006/relationships/hyperlink" Target="https://huggingface.co/sentence-transformers/all-mpnet-base-v2" TargetMode="External"/><Relationship Id="rId2" Type="http://schemas.openxmlformats.org/officeDocument/2006/relationships/hyperlink" Target="https://arxiv.org/abs/1908.10084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huggingface.co/sentence-transformers/all-MiniLM-L6-v2" TargetMode="External"/><Relationship Id="rId5" Type="http://schemas.openxmlformats.org/officeDocument/2006/relationships/hyperlink" Target="https://arxiv.org/abs/1708.00055" TargetMode="External"/><Relationship Id="rId10" Type="http://schemas.openxmlformats.org/officeDocument/2006/relationships/hyperlink" Target="https://www.microsoft.com/en-us/download/details.aspx?id=52398" TargetMode="External"/><Relationship Id="rId4" Type="http://schemas.openxmlformats.org/officeDocument/2006/relationships/hyperlink" Target="https://gluebenchmark.com/" TargetMode="External"/><Relationship Id="rId9" Type="http://schemas.openxmlformats.org/officeDocument/2006/relationships/hyperlink" Target="https://huggingface.co/cross-encoder/nli-deberta-v3-ba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371600" y="1587240"/>
            <a:ext cx="9599400" cy="2068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6000" b="0" u="none" strike="noStrike" spc="-11">
                <a:solidFill>
                  <a:schemeClr val="dk1"/>
                </a:solidFill>
                <a:effectLst/>
                <a:uFillTx/>
                <a:latin typeface="Calibri Light"/>
                <a:ea typeface="Noto Sans CJK SC"/>
              </a:rPr>
              <a:t>Paraphrase Detection and Semantic Textual Similarity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object 1"/>
          <p:cNvSpPr/>
          <p:nvPr/>
        </p:nvSpPr>
        <p:spPr>
          <a:xfrm>
            <a:off x="1371600" y="1587600"/>
            <a:ext cx="9599400" cy="206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408240" algn="l"/>
              </a:tabLst>
            </a:pPr>
            <a:r>
              <a:rPr lang="en-US" sz="6000" b="0" u="none" strike="noStrike" spc="-11">
                <a:solidFill>
                  <a:schemeClr val="dk1"/>
                </a:solidFill>
                <a:effectLst/>
                <a:uFillTx/>
                <a:latin typeface="Calibri Light"/>
                <a:ea typeface="Noto Sans CJK SC"/>
              </a:rPr>
              <a:t>Paraphrase Detection and Semantic Textual Similarity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object 8"/>
          <p:cNvSpPr/>
          <p:nvPr/>
        </p:nvSpPr>
        <p:spPr>
          <a:xfrm>
            <a:off x="1371600" y="1587600"/>
            <a:ext cx="9599400" cy="206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408240" algn="l"/>
              </a:tabLst>
            </a:pPr>
            <a:r>
              <a:rPr lang="en-US" sz="6000" b="0" u="none" strike="noStrike" spc="-11">
                <a:solidFill>
                  <a:schemeClr val="dk1"/>
                </a:solidFill>
                <a:effectLst/>
                <a:uFillTx/>
                <a:latin typeface="Calibri Light"/>
                <a:ea typeface="Noto Sans CJK SC"/>
              </a:rPr>
              <a:t>Paraphrase Detection and Semantic Textual Similarity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object 9"/>
          <p:cNvSpPr/>
          <p:nvPr/>
        </p:nvSpPr>
        <p:spPr>
          <a:xfrm>
            <a:off x="1371600" y="1587960"/>
            <a:ext cx="9599400" cy="206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408240" algn="l"/>
              </a:tabLst>
            </a:pPr>
            <a:r>
              <a:rPr lang="en-US" sz="6000" b="0" u="none" strike="noStrike" spc="-11" dirty="0">
                <a:solidFill>
                  <a:schemeClr val="dk1"/>
                </a:solidFill>
                <a:effectLst/>
                <a:uFillTx/>
                <a:latin typeface="Calibri Light"/>
                <a:ea typeface="Noto Sans CJK SC"/>
              </a:rPr>
              <a:t>Paraphrase Detection and Semantic Textual Similarity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371600" y="4623318"/>
            <a:ext cx="3944880" cy="3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MT2025135 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– </a:t>
            </a:r>
            <a:r>
              <a:rPr lang="en-US" sz="1800" b="0" u="none" strike="noStrike" dirty="0" err="1" smtClean="0">
                <a:solidFill>
                  <a:srgbClr val="000000"/>
                </a:solidFill>
                <a:effectLst/>
                <a:uFillTx/>
                <a:latin typeface="Calibri"/>
              </a:rPr>
              <a:t>Yash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alibri"/>
              </a:rPr>
              <a:t>Sameer </a:t>
            </a:r>
            <a:r>
              <a:rPr lang="en-US" dirty="0" err="1" smtClean="0">
                <a:solidFill>
                  <a:srgbClr val="000000"/>
                </a:solidFill>
                <a:latin typeface="Calibri"/>
              </a:rPr>
              <a:t>Parande</a:t>
            </a:r>
            <a:endParaRPr lang="en-US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MT2025122 – </a:t>
            </a:r>
            <a:r>
              <a:rPr lang="en-US" sz="1800" b="0" u="none" strike="noStrike" dirty="0" err="1" smtClean="0">
                <a:solidFill>
                  <a:srgbClr val="000000"/>
                </a:solidFill>
                <a:effectLst/>
                <a:uFillTx/>
                <a:latin typeface="Calibri"/>
              </a:rPr>
              <a:t>Siddhesh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alibri"/>
              </a:rPr>
              <a:t>Mahajan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MT2025124 </a:t>
            </a:r>
            <a:r>
              <a:rPr lang="en-US" dirty="0" smtClean="0">
                <a:solidFill>
                  <a:srgbClr val="000000"/>
                </a:solidFill>
                <a:latin typeface="Calibri"/>
              </a:rPr>
              <a:t>– 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Suchir Okram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MT2025083 </a:t>
            </a:r>
            <a:r>
              <a:rPr lang="en-US" dirty="0" smtClean="0">
                <a:solidFill>
                  <a:srgbClr val="000000"/>
                </a:solidFill>
                <a:latin typeface="Calibri"/>
              </a:rPr>
              <a:t>– Parag </a:t>
            </a:r>
            <a:r>
              <a:rPr lang="en-US" dirty="0" err="1" smtClean="0">
                <a:solidFill>
                  <a:srgbClr val="000000"/>
                </a:solidFill>
                <a:latin typeface="Calibri"/>
              </a:rPr>
              <a:t>Piprewar</a:t>
            </a:r>
            <a:endParaRPr lang="en-US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dirty="0" smtClean="0">
                <a:solidFill>
                  <a:srgbClr val="000000"/>
                </a:solidFill>
                <a:latin typeface="Calibri"/>
              </a:rPr>
              <a:t>MT2025111 – </a:t>
            </a:r>
            <a:r>
              <a:rPr lang="en-US" dirty="0" err="1" smtClean="0">
                <a:solidFill>
                  <a:srgbClr val="000000"/>
                </a:solidFill>
                <a:latin typeface="Calibri"/>
              </a:rPr>
              <a:t>Sandiri</a:t>
            </a:r>
            <a:r>
              <a:rPr lang="en-US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alibri"/>
              </a:rPr>
              <a:t>Rohith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6560" y="506520"/>
            <a:ext cx="5357880" cy="1779120"/>
          </a:xfrm>
          <a:prstGeom prst="rect">
            <a:avLst/>
          </a:prstGeom>
          <a:noFill/>
          <a:ln w="0">
            <a:noFill/>
          </a:ln>
        </p:spPr>
        <p:txBody>
          <a:bodyPr lIns="0" tIns="63576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500" b="0" u="none" strike="noStrike" spc="-11">
                <a:solidFill>
                  <a:schemeClr val="dk1"/>
                </a:solidFill>
                <a:effectLst/>
                <a:uFillTx/>
                <a:latin typeface="Calibri Light"/>
              </a:rPr>
              <a:t>Introduction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bject 3"/>
          <p:cNvSpPr/>
          <p:nvPr/>
        </p:nvSpPr>
        <p:spPr>
          <a:xfrm>
            <a:off x="916560" y="2117160"/>
            <a:ext cx="10204200" cy="2940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1400" rIns="0" bIns="0" anchor="t">
            <a:spAutoFit/>
          </a:bodyPr>
          <a:lstStyle/>
          <a:p>
            <a:pPr marL="241200" indent="-229320">
              <a:lnSpc>
                <a:spcPts val="197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 MT"/>
              <a:buChar char="•"/>
              <a:tabLst>
                <a:tab pos="241200" algn="l"/>
              </a:tabLst>
            </a:pPr>
            <a:r>
              <a:rPr lang="en-US" sz="1800" b="0" u="none" strike="noStrike" spc="-20" dirty="0">
                <a:solidFill>
                  <a:srgbClr val="000000"/>
                </a:solidFill>
                <a:effectLst/>
                <a:uFillTx/>
                <a:latin typeface="Calibri"/>
              </a:rPr>
              <a:t>Paraphrase detection and STS are core NLP challenges — machines must grasp deeper meaning, not just word form. Even humans struggle to consistently judge whether sentences convey the same idea.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9320">
              <a:lnSpc>
                <a:spcPts val="197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 MT"/>
              <a:buChar char="•"/>
              <a:tabLst>
                <a:tab pos="241200" algn="l"/>
              </a:tabLst>
            </a:pPr>
            <a:r>
              <a:rPr lang="en-US" sz="1800" b="0" u="none" strike="noStrike" spc="-20" dirty="0">
                <a:solidFill>
                  <a:srgbClr val="000000"/>
                </a:solidFill>
                <a:effectLst/>
                <a:uFillTx/>
                <a:latin typeface="Calibri"/>
              </a:rPr>
              <a:t>Such systems enable information retrieval, question answering, duplicate detection, and machine translation — and are key to grounding LLMs in factual consistency.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9320">
              <a:lnSpc>
                <a:spcPts val="197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 MT"/>
              <a:buChar char="•"/>
              <a:tabLst>
                <a:tab pos="241200" algn="l"/>
              </a:tabLst>
            </a:pPr>
            <a:r>
              <a:rPr lang="en-US" sz="1800" b="0" u="none" strike="noStrike" spc="-20" dirty="0">
                <a:solidFill>
                  <a:srgbClr val="000000"/>
                </a:solidFill>
                <a:effectLst/>
                <a:uFillTx/>
                <a:latin typeface="Calibri"/>
              </a:rPr>
              <a:t>We benchmark three transformer models — </a:t>
            </a:r>
            <a:r>
              <a:rPr lang="en-US" sz="1800" b="0" u="none" strike="noStrike" spc="-20" dirty="0" err="1">
                <a:solidFill>
                  <a:srgbClr val="000000"/>
                </a:solidFill>
                <a:effectLst/>
                <a:uFillTx/>
                <a:latin typeface="Calibri"/>
              </a:rPr>
              <a:t>MiniLM</a:t>
            </a:r>
            <a:r>
              <a:rPr lang="en-US" sz="1800" b="0" u="none" strike="noStrike" spc="-20" dirty="0">
                <a:solidFill>
                  <a:srgbClr val="000000"/>
                </a:solidFill>
                <a:effectLst/>
                <a:uFillTx/>
                <a:latin typeface="Calibri"/>
              </a:rPr>
              <a:t>, </a:t>
            </a:r>
            <a:r>
              <a:rPr lang="en-US" sz="1800" b="0" u="none" strike="noStrike" spc="-20" dirty="0" err="1">
                <a:solidFill>
                  <a:srgbClr val="000000"/>
                </a:solidFill>
                <a:effectLst/>
                <a:uFillTx/>
                <a:latin typeface="Calibri"/>
              </a:rPr>
              <a:t>MPNet</a:t>
            </a:r>
            <a:r>
              <a:rPr lang="en-US" sz="1800" b="0" u="none" strike="noStrike" spc="-20" dirty="0">
                <a:solidFill>
                  <a:srgbClr val="000000"/>
                </a:solidFill>
                <a:effectLst/>
                <a:uFillTx/>
                <a:latin typeface="Calibri"/>
              </a:rPr>
              <a:t>, and Elite (DeBERTa-V3 Large) — on GLUE's MRPC and </a:t>
            </a:r>
            <a:r>
              <a:rPr lang="en-US" sz="1800" b="0" u="none" strike="noStrike" spc="-20" dirty="0" err="1">
                <a:solidFill>
                  <a:srgbClr val="000000"/>
                </a:solidFill>
                <a:effectLst/>
                <a:uFillTx/>
                <a:latin typeface="Calibri"/>
              </a:rPr>
              <a:t>STSb</a:t>
            </a:r>
            <a:r>
              <a:rPr lang="en-US" sz="1800" b="0" u="none" strike="noStrike" spc="-20" dirty="0">
                <a:solidFill>
                  <a:srgbClr val="000000"/>
                </a:solidFill>
                <a:effectLst/>
                <a:uFillTx/>
                <a:latin typeface="Calibri"/>
              </a:rPr>
              <a:t> datasets (12,000+ sentence pairs), evaluated on accuracy, F1, Pearson r, and MAE.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9320">
              <a:lnSpc>
                <a:spcPts val="197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 MT"/>
              <a:buChar char="•"/>
              <a:tabLst>
                <a:tab pos="241200" algn="l"/>
              </a:tabLst>
            </a:pPr>
            <a:r>
              <a:rPr lang="en-US" sz="1800" b="0" u="none" strike="noStrike" spc="-20" dirty="0">
                <a:solidFill>
                  <a:srgbClr val="000000"/>
                </a:solidFill>
                <a:effectLst/>
                <a:uFillTx/>
                <a:latin typeface="Calibri"/>
              </a:rPr>
              <a:t>Our evaluation reveals that cross-encoders consistently outperform bi-encoders on semantic nuance tasks, while bi-encoders remain preferable for large-scale, real-time retrieval due to their efficiency.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42560" y="277920"/>
            <a:ext cx="5357880" cy="1779120"/>
          </a:xfrm>
          <a:prstGeom prst="rect">
            <a:avLst/>
          </a:prstGeom>
          <a:noFill/>
          <a:ln w="0">
            <a:noFill/>
          </a:ln>
        </p:spPr>
        <p:txBody>
          <a:bodyPr lIns="0" tIns="63576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500" b="0" u="none" strike="noStrike" spc="-11">
                <a:solidFill>
                  <a:schemeClr val="dk1"/>
                </a:solidFill>
                <a:effectLst/>
                <a:uFillTx/>
                <a:latin typeface="Calibri Light"/>
              </a:rPr>
              <a:t>Dataset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916560" y="1804680"/>
            <a:ext cx="10272600" cy="392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7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 use two GLUE benchmark datasets — MRPC and STSb. Both are human-annotated, covering 12,000+ sentence pairs, enabling direct comparison with published state-of-the-art results.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7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dataset contains the following fields: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7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Sentence 1 / Sentence 2: The pair of sentences compared for semantic equivalence or similarity.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7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Label (MRPC): Binary label — 1 = paraphrase, 0 = not a paraphrase.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7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Score (STSb): Continuous similarity score normalized to 0.0–1.0 scale.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7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MRPC Split: Train: 3,668 pairs, Validation: 408 pairs, Test: 1,725 pairs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7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STSb Split: Train: 5,749 pairs, Validation: 1,500 pairs, Test: 1,379 pair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14400" y="158620"/>
            <a:ext cx="5357880" cy="1167840"/>
          </a:xfrm>
          <a:prstGeom prst="rect">
            <a:avLst/>
          </a:prstGeom>
          <a:noFill/>
          <a:ln w="0">
            <a:noFill/>
          </a:ln>
        </p:spPr>
        <p:txBody>
          <a:bodyPr lIns="0" tIns="63576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500" b="0" u="none" strike="noStrike" spc="-11" dirty="0">
                <a:solidFill>
                  <a:schemeClr val="dk1"/>
                </a:solidFill>
                <a:effectLst/>
                <a:uFillTx/>
                <a:latin typeface="Calibri Light"/>
              </a:rPr>
              <a:t>Models used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914400" y="1644113"/>
            <a:ext cx="10391033" cy="37351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41400" rIns="0" bIns="0" anchor="t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700"/>
              </a:spcBef>
              <a:spcAft>
                <a:spcPts val="201"/>
              </a:spcAft>
              <a:buAutoNum type="arabicPeriod"/>
              <a:tabLst>
                <a:tab pos="0" algn="l"/>
              </a:tabLst>
            </a:pPr>
            <a:r>
              <a:rPr lang="en-US" sz="1800" b="1" u="none" strike="noStrike" dirty="0" err="1" smtClean="0">
                <a:solidFill>
                  <a:srgbClr val="000000"/>
                </a:solidFill>
                <a:effectLst/>
                <a:uFillTx/>
                <a:latin typeface="Calibri"/>
              </a:rPr>
              <a:t>MiniLM</a:t>
            </a:r>
            <a:r>
              <a:rPr lang="en-US" sz="1800" b="1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(all-MiniLM-L6-v2)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: Lightweight bi-encoder using cosine similarity. Best for high-throughput, low-latency deployments where speed outweighs marginal accuracy gains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00000"/>
              </a:lnSpc>
              <a:spcBef>
                <a:spcPts val="1600"/>
              </a:spcBef>
              <a:spcAft>
                <a:spcPts val="201"/>
              </a:spcAft>
              <a:buFont typeface="+mj-lt"/>
              <a:buAutoNum type="arabicPeriod"/>
              <a:tabLst>
                <a:tab pos="0" algn="l"/>
              </a:tabLst>
            </a:pPr>
            <a:r>
              <a:rPr lang="en-US" sz="1800" b="1" u="none" strike="noStrike" dirty="0" err="1" smtClean="0">
                <a:solidFill>
                  <a:srgbClr val="000000"/>
                </a:solidFill>
                <a:effectLst/>
                <a:uFillTx/>
                <a:latin typeface="Calibri"/>
              </a:rPr>
              <a:t>MPNet</a:t>
            </a:r>
            <a:r>
              <a:rPr lang="en-US" sz="1800" b="1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(all-mpnet-base-v2)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: High-quality bi-encoder with full-context pre-training. Richer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Calibri"/>
              </a:rPr>
              <a:t>embeddings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than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Calibri"/>
              </a:rPr>
              <a:t>MiniLM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; balanced accuracy-speed mid-tier option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00000"/>
              </a:lnSpc>
              <a:spcBef>
                <a:spcPts val="1600"/>
              </a:spcBef>
              <a:spcAft>
                <a:spcPts val="201"/>
              </a:spcAft>
              <a:buFont typeface="+mj-lt"/>
              <a:buAutoNum type="arabicPeriod"/>
              <a:tabLst>
                <a:tab pos="0" algn="l"/>
              </a:tabLst>
            </a:pPr>
            <a:r>
              <a:rPr lang="en-US" sz="1800" b="1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Elite 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(cross-encoder/</a:t>
            </a:r>
            <a:r>
              <a:rPr lang="en-US" sz="1800" b="1" u="none" strike="noStrike" dirty="0" err="1">
                <a:solidFill>
                  <a:srgbClr val="000000"/>
                </a:solidFill>
                <a:effectLst/>
                <a:uFillTx/>
                <a:latin typeface="Calibri"/>
              </a:rPr>
              <a:t>stsb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-</a:t>
            </a:r>
            <a:r>
              <a:rPr lang="en-US" sz="1800" b="1" u="none" strike="noStrike" dirty="0" err="1">
                <a:solidFill>
                  <a:srgbClr val="000000"/>
                </a:solidFill>
                <a:effectLst/>
                <a:uFillTx/>
                <a:latin typeface="Calibri"/>
              </a:rPr>
              <a:t>roberta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-large)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: Cross-Encoder jointly encoding both sentences with full cross-attention — most accurate, but slower at inference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00000"/>
              </a:lnSpc>
              <a:spcBef>
                <a:spcPts val="1600"/>
              </a:spcBef>
              <a:spcAft>
                <a:spcPts val="201"/>
              </a:spcAft>
              <a:buFont typeface="+mj-lt"/>
              <a:buAutoNum type="arabicPeriod"/>
              <a:tabLst>
                <a:tab pos="0" algn="l"/>
              </a:tabLst>
            </a:pPr>
            <a:r>
              <a:rPr lang="en-US" sz="1800" b="1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NLI 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Cross-Encoder (cross-encoder/nli-deberta-v3-base)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: Classifies pairs as entailment, neutral, or contradiction. Forces score to zero on contradiction, preventing false positives from lexical overlap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>
              <a:lnSpc>
                <a:spcPct val="100000"/>
              </a:lnSpc>
              <a:spcBef>
                <a:spcPts val="1600"/>
              </a:spcBef>
              <a:spcAft>
                <a:spcPts val="201"/>
              </a:spcAft>
              <a:buFont typeface="+mj-lt"/>
              <a:buAutoNum type="arabicPeriod"/>
              <a:tabLst>
                <a:tab pos="0" algn="l"/>
              </a:tabLst>
            </a:pPr>
            <a:r>
              <a:rPr lang="en-US" sz="1800" b="1" u="none" strike="noStrike" dirty="0" smtClean="0">
                <a:solidFill>
                  <a:srgbClr val="000000"/>
                </a:solidFill>
                <a:effectLst/>
                <a:uFillTx/>
                <a:latin typeface="Calibri"/>
              </a:rPr>
              <a:t>Negation 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&amp; Antonym Heuristic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: Rule-based layer penalizing scores when negation or antonym pairs are detected — addressing transformer blind spots on logical inverses.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143000" y="1074872"/>
            <a:ext cx="4308840" cy="69840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en-US" sz="3500" b="0" u="none" strike="noStrike" spc="-11" dirty="0">
                <a:solidFill>
                  <a:schemeClr val="dk1"/>
                </a:solidFill>
                <a:effectLst/>
                <a:uFillTx/>
                <a:latin typeface="Calibri Light"/>
              </a:rPr>
              <a:t>Implementation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object 4"/>
          <p:cNvSpPr/>
          <p:nvPr/>
        </p:nvSpPr>
        <p:spPr>
          <a:xfrm>
            <a:off x="1143000" y="2771192"/>
            <a:ext cx="9768600" cy="3059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3996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315"/>
              </a:spcBef>
              <a:tabLst>
                <a:tab pos="24120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Encoding: Sentences are tokenized and passed through transformer encoders. Bi-encoders (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MiniLM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,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MPNet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) encode each independently via mean pooling; Cross-Encoder (Elite) encodes both jointly for direct token-level cross-attention.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Similarity &amp; Refinement: Bi-encoders use cosine similarity; Cross-Encoder outputs a calibrated score directly. Refined via: negation penalty, antonym penalty, and NLI contradiction check (score forced to 0 on contradiction).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Output: Final score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thresholded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 at 0.75 for binary paraphrase detection; used directly for STS scoring. Evaluated on accuracy, F1, Pearson r, and MAE.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Threshold Calibration: The 0.75 paraphrase threshold was empirically tuned on MRPC validation data to maximize F1, balancing precision and recall across diverse sentence-pair types.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Picture 51"/>
          <p:cNvPicPr/>
          <p:nvPr/>
        </p:nvPicPr>
        <p:blipFill>
          <a:blip r:embed="rId2"/>
          <a:stretch/>
        </p:blipFill>
        <p:spPr>
          <a:xfrm>
            <a:off x="1240435" y="1773272"/>
            <a:ext cx="5998680" cy="997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86408" y="827199"/>
            <a:ext cx="10969200" cy="7120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500" b="0" u="none" strike="noStrike" spc="-11" dirty="0">
                <a:solidFill>
                  <a:schemeClr val="dk1"/>
                </a:solidFill>
                <a:effectLst/>
                <a:uFillTx/>
                <a:latin typeface="Calibri Light"/>
                <a:ea typeface="Noto Sans CJK SC"/>
              </a:rPr>
              <a:t>Paraphrase Detection Accuracy for 3 Models 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object 3"/>
          <p:cNvSpPr/>
          <p:nvPr/>
        </p:nvSpPr>
        <p:spPr>
          <a:xfrm>
            <a:off x="962640" y="4228024"/>
            <a:ext cx="10019880" cy="1677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8240" rIns="0" bIns="0" anchor="t">
            <a:spAutoFit/>
          </a:bodyPr>
          <a:lstStyle/>
          <a:p>
            <a:pPr>
              <a:lnSpc>
                <a:spcPts val="1899"/>
              </a:lnSpc>
              <a:spcBef>
                <a:spcPts val="380"/>
              </a:spcBef>
              <a:tabLst>
                <a:tab pos="24120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Paraphrase detection accuracy across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MiniLM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,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MPNet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, and Elite on MRPC test data, grouped by absolute word-count difference to show how structural complexity affects performance.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Hard Negative Paradox: Accuracy drops at small mismatches (0–4 words) where a subtle change flips meaning, and rises at large mismatches (12+ words). Elite’s cross-attention suffers the smallest drop, catching fine-grained shifts that bi-encoders miss.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Picture 54"/>
          <p:cNvPicPr/>
          <p:nvPr/>
        </p:nvPicPr>
        <p:blipFill>
          <a:blip r:embed="rId2"/>
          <a:stretch/>
        </p:blipFill>
        <p:spPr>
          <a:xfrm>
            <a:off x="2802600" y="1539279"/>
            <a:ext cx="6339960" cy="27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95738" y="314955"/>
            <a:ext cx="10969200" cy="7120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500" b="0" u="none" strike="noStrike" spc="-11" dirty="0">
                <a:solidFill>
                  <a:schemeClr val="dk1"/>
                </a:solidFill>
                <a:effectLst/>
                <a:uFillTx/>
                <a:latin typeface="Calibri Light"/>
                <a:ea typeface="Noto Sans CJK SC"/>
              </a:rPr>
              <a:t>Error Distribution of 3 Models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bject 2"/>
          <p:cNvSpPr/>
          <p:nvPr/>
        </p:nvSpPr>
        <p:spPr>
          <a:xfrm>
            <a:off x="1124339" y="4187174"/>
            <a:ext cx="10019880" cy="166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8240" rIns="0" bIns="0" anchor="t">
            <a:spAutoFit/>
          </a:bodyPr>
          <a:lstStyle/>
          <a:p>
            <a:pPr>
              <a:lnSpc>
                <a:spcPts val="1899"/>
              </a:lnSpc>
              <a:spcBef>
                <a:spcPts val="380"/>
              </a:spcBef>
              <a:tabLst>
                <a:tab pos="24120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Histogram comparison for all three models on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STSb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, showing the % of sentence pairs per absolute error bucket (0–1) between human and predicted similarity scores.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Most errors fall below 0.20 — wrong predictions are still near the true score. Elite's distribution is most shifted toward zero (best calibration);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MPNet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 slightly outperforms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MiniLM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 due to its larger embedding space.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/>
          <p:cNvPicPr/>
          <p:nvPr/>
        </p:nvPicPr>
        <p:blipFill>
          <a:blip r:embed="rId2"/>
          <a:stretch/>
        </p:blipFill>
        <p:spPr>
          <a:xfrm>
            <a:off x="3038040" y="1027035"/>
            <a:ext cx="5877360" cy="3205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95738" y="922202"/>
            <a:ext cx="10969200" cy="7120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500" b="0" u="none" strike="noStrike" spc="-11" dirty="0">
                <a:solidFill>
                  <a:schemeClr val="dk1"/>
                </a:solidFill>
                <a:effectLst/>
                <a:uFillTx/>
                <a:latin typeface="Calibri Light"/>
                <a:ea typeface="Noto Sans CJK SC"/>
              </a:rPr>
              <a:t>STS Score Alignment Across 3 Models 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object 10"/>
          <p:cNvSpPr/>
          <p:nvPr/>
        </p:nvSpPr>
        <p:spPr>
          <a:xfrm>
            <a:off x="1064520" y="3986890"/>
            <a:ext cx="10019880" cy="166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8240" rIns="0" bIns="0" anchor="t">
            <a:spAutoFit/>
          </a:bodyPr>
          <a:lstStyle/>
          <a:p>
            <a:pPr>
              <a:lnSpc>
                <a:spcPts val="1899"/>
              </a:lnSpc>
              <a:spcBef>
                <a:spcPts val="380"/>
              </a:spcBef>
              <a:tabLst>
                <a:tab pos="24120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Scatter plots of human-annotated vs. predicted similarity scores for all three models on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STSb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. Each point is a sentence pair; Pearson r measures overall rank-order alignment.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Cosine Similarity Bias: Bi-encoders over-predict similarity — dense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embeddings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 compress cosine values upward, conflating topical with semantic similarity. Elite’s cross-encoder corrects this most effectively (Pearson r = 0.91).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Picture 60"/>
          <p:cNvPicPr/>
          <p:nvPr/>
        </p:nvPicPr>
        <p:blipFill>
          <a:blip r:embed="rId2"/>
          <a:stretch/>
        </p:blipFill>
        <p:spPr>
          <a:xfrm>
            <a:off x="2320560" y="1671884"/>
            <a:ext cx="7507800" cy="242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46560" y="1014926"/>
            <a:ext cx="10554840" cy="4847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35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Test Done on Sample of 300 test cases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3" name="Table 62"/>
          <p:cNvGraphicFramePr/>
          <p:nvPr>
            <p:extLst>
              <p:ext uri="{D42A27DB-BD31-4B8C-83A1-F6EECF244321}">
                <p14:modId xmlns:p14="http://schemas.microsoft.com/office/powerpoint/2010/main" val="502839715"/>
              </p:ext>
            </p:extLst>
          </p:nvPr>
        </p:nvGraphicFramePr>
        <p:xfrm>
          <a:off x="646560" y="2134741"/>
          <a:ext cx="10286640" cy="2586549"/>
        </p:xfrm>
        <a:graphic>
          <a:graphicData uri="http://schemas.openxmlformats.org/drawingml/2006/table">
            <a:tbl>
              <a:tblPr/>
              <a:tblGrid>
                <a:gridCol w="2619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5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161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MiniLM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 Model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MPNet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 Model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Elite Model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7701">
                <a:tc>
                  <a:txBody>
                    <a:bodyPr/>
                    <a:lstStyle/>
                    <a:p>
                      <a:pPr marL="0" indent="0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Percentage of Paraphrase Detection correctly predicted (%)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78.33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80.30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82.67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1687">
                <a:tc>
                  <a:txBody>
                    <a:bodyPr/>
                    <a:lstStyle/>
                    <a:p>
                      <a:pPr marL="0" indent="0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Mean of Absolute Error in Semantic Textual Similarity (0-1)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0.144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0.109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Calibri"/>
                          <a:ea typeface="Noto Sans CJK SC"/>
                        </a:rPr>
                        <a:t>0.102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6560" y="466531"/>
            <a:ext cx="5288297" cy="1455576"/>
          </a:xfrm>
          <a:prstGeom prst="rect">
            <a:avLst/>
          </a:prstGeom>
          <a:noFill/>
          <a:ln w="0">
            <a:noFill/>
          </a:ln>
        </p:spPr>
        <p:txBody>
          <a:bodyPr lIns="0" tIns="63576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5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Future</a:t>
            </a:r>
            <a:r>
              <a:rPr lang="en-US" sz="3500" b="0" u="none" strike="noStrike" spc="31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500" b="0" u="none" strike="noStrike" spc="-20" dirty="0">
                <a:solidFill>
                  <a:schemeClr val="dk1"/>
                </a:solidFill>
                <a:effectLst/>
                <a:uFillTx/>
                <a:latin typeface="Calibri Light"/>
              </a:rPr>
              <a:t>Work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object 3"/>
          <p:cNvSpPr/>
          <p:nvPr/>
        </p:nvSpPr>
        <p:spPr>
          <a:xfrm>
            <a:off x="916560" y="1703880"/>
            <a:ext cx="10240560" cy="37151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1304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890"/>
              </a:spcBef>
              <a:tabLst>
                <a:tab pos="240840" algn="l"/>
              </a:tabLst>
            </a:pPr>
            <a:endParaRPr lang="en-US" sz="18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Extend the system to detect paraphrases and measure semantic similarity across languages (e.g., Hindi ↔ English, Marathi ↔ French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).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  <a:tabLst>
                <a:tab pos="40824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Approach 1 — Translate + Pipeline: Translate the non-English sentence with NMT, then run both through the existing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MiniLM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 /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MPNet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 / Elite pipeline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.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  <a:tabLst>
                <a:tab pos="40824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Recommended models: Helsinki-NLP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MarianMT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, Facebook 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NLLB-200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  <a:tabLst>
                <a:tab pos="40824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Approach 2 — Multilingual Encoders: Embed sentences from different languages directly into a shared vector space — no translation required</a:t>
            </a:r>
            <a:r>
              <a:rPr lang="en-US" sz="1800" b="0" u="none" strike="noStrike" dirty="0" smtClean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.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  <a:tabLst>
                <a:tab pos="408240" algn="l"/>
              </a:tabLst>
            </a:pPr>
            <a:endParaRPr lang="en-US" sz="18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 smtClean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Recommended 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models: 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LaBSE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, paraphrase-multilingual-mpnet-base-v2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5357880" cy="1695960"/>
          </a:xfrm>
          <a:prstGeom prst="rect">
            <a:avLst/>
          </a:prstGeom>
          <a:noFill/>
          <a:ln w="0">
            <a:noFill/>
          </a:ln>
        </p:spPr>
        <p:txBody>
          <a:bodyPr lIns="0" tIns="55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500" b="0" u="none" strike="noStrike" spc="-34">
                <a:solidFill>
                  <a:schemeClr val="dk1"/>
                </a:solidFill>
                <a:effectLst/>
                <a:uFillTx/>
                <a:latin typeface="Calibri Light"/>
              </a:rPr>
              <a:t>References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bject 5"/>
          <p:cNvSpPr/>
          <p:nvPr/>
        </p:nvSpPr>
        <p:spPr>
          <a:xfrm>
            <a:off x="914400" y="914400"/>
            <a:ext cx="10287000" cy="41703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8240" rIns="0" bIns="0" anchor="t">
            <a:spAutoFit/>
          </a:bodyPr>
          <a:lstStyle/>
          <a:p>
            <a:pPr>
              <a:lnSpc>
                <a:spcPts val="1899"/>
              </a:lnSpc>
              <a:spcBef>
                <a:spcPts val="380"/>
              </a:spcBef>
              <a:tabLst>
                <a:tab pos="24120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Reimers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&amp;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Gurevych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(2019). Sentence-BERT: Sentence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Embeddings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using Siamese BERT-Networks. </a:t>
            </a:r>
            <a:r>
              <a:rPr lang="en-US" sz="1800" b="0" u="sng" strike="noStrike" dirty="0">
                <a:solidFill>
                  <a:srgbClr val="0000FF"/>
                </a:solidFill>
                <a:effectLst/>
                <a:highlight>
                  <a:srgbClr val="FFFFFF"/>
                </a:highlight>
                <a:uFillTx/>
                <a:latin typeface="Arial"/>
                <a:hlinkClick r:id="rId2"/>
              </a:rPr>
              <a:t>https://arxiv.org/abs/1908.10084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He et al. (2021). DeBERTaV3: Improving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DeBERTa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using ELECTRA-Style Pre-Training with Gradient-Disentangled Embedding Sharing. </a:t>
            </a:r>
            <a:r>
              <a:rPr lang="en-US" sz="1800" b="0" u="sng" strike="noStrike" dirty="0">
                <a:solidFill>
                  <a:srgbClr val="0000FF"/>
                </a:solidFill>
                <a:effectLst/>
                <a:highlight>
                  <a:srgbClr val="FFFFFF"/>
                </a:highlight>
                <a:uFillTx/>
                <a:latin typeface="Arial"/>
                <a:hlinkClick r:id="rId3"/>
              </a:rPr>
              <a:t>https://arxiv.org/abs/2111.09543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Wang et al. (2018). GLUE: A Multi-Task Benchmark and Analysis Platform for Natural Language Understanding. </a:t>
            </a:r>
            <a:r>
              <a:rPr lang="en-US" sz="1800" b="0" u="sng" strike="noStrike" dirty="0">
                <a:solidFill>
                  <a:srgbClr val="0000FF"/>
                </a:solidFill>
                <a:effectLst/>
                <a:highlight>
                  <a:srgbClr val="FFFFFF"/>
                </a:highlight>
                <a:uFillTx/>
                <a:latin typeface="Arial"/>
                <a:hlinkClick r:id="rId4"/>
              </a:rPr>
              <a:t>https://gluebenchmark.com/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Cer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 et al. (2017). SemEval-2017 Task 1: Semantic Textual Similarity. </a:t>
            </a:r>
            <a:r>
              <a:rPr lang="en-US" sz="1800" b="0" u="sng" strike="noStrike" dirty="0">
                <a:solidFill>
                  <a:srgbClr val="0000FF"/>
                </a:solidFill>
                <a:effectLst/>
                <a:highlight>
                  <a:srgbClr val="FFFFFF"/>
                </a:highlight>
                <a:uFillTx/>
                <a:latin typeface="Arial"/>
                <a:hlinkClick r:id="rId5"/>
              </a:rPr>
              <a:t>https://arxiv.org/abs/1708.00055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all-MiniLM-L6-v2 model: </a:t>
            </a:r>
            <a:r>
              <a:rPr lang="en-US" sz="1800" b="0" u="sng" strike="noStrike" dirty="0">
                <a:solidFill>
                  <a:srgbClr val="0000FF"/>
                </a:solidFill>
                <a:effectLst/>
                <a:highlight>
                  <a:srgbClr val="FFFFFF"/>
                </a:highlight>
                <a:uFillTx/>
                <a:latin typeface="Arial"/>
                <a:hlinkClick r:id="rId6"/>
              </a:rPr>
              <a:t>https://huggingface.co/sentence-transformers/all-MiniLM-L6-v2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all-mpnet-base-v2 model: </a:t>
            </a:r>
            <a:r>
              <a:rPr lang="en-US" sz="1800" b="0" u="sng" strike="noStrike" dirty="0">
                <a:solidFill>
                  <a:srgbClr val="0000FF"/>
                </a:solidFill>
                <a:effectLst/>
                <a:highlight>
                  <a:srgbClr val="FFFFFF"/>
                </a:highlight>
                <a:uFillTx/>
                <a:latin typeface="Arial"/>
                <a:hlinkClick r:id="rId7"/>
              </a:rPr>
              <a:t>https://huggingface.co/sentence-transformers/all-mpnet-base-v2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cross-encoder/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stsb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-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roberta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-large: </a:t>
            </a:r>
            <a:r>
              <a:rPr lang="en-US" sz="1800" b="0" u="sng" strike="noStrike" dirty="0">
                <a:solidFill>
                  <a:srgbClr val="0000FF"/>
                </a:solidFill>
                <a:effectLst/>
                <a:highlight>
                  <a:srgbClr val="FFFFFF"/>
                </a:highlight>
                <a:uFillTx/>
                <a:latin typeface="Arial"/>
                <a:hlinkClick r:id="rId8"/>
              </a:rPr>
              <a:t>https://huggingface.co/cross-encoder/stsb-roberta-large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cross-encoder/nli-deberta-v3-base: </a:t>
            </a:r>
            <a:r>
              <a:rPr lang="en-US" sz="1800" b="0" u="sng" strike="noStrike" dirty="0">
                <a:solidFill>
                  <a:srgbClr val="0000FF"/>
                </a:solidFill>
                <a:effectLst/>
                <a:highlight>
                  <a:srgbClr val="FFFFFF"/>
                </a:highlight>
                <a:uFillTx/>
                <a:latin typeface="Arial"/>
                <a:hlinkClick r:id="rId9"/>
              </a:rPr>
              <a:t>https://huggingface.co/cross-encoder/nli-deberta-v3-base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40824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Microsoft Research Paraphrase Corpus (MRPC): </a:t>
            </a:r>
            <a:r>
              <a:rPr lang="en-US" sz="1800" b="0" u="sng" strike="noStrike" dirty="0">
                <a:solidFill>
                  <a:srgbClr val="0000FF"/>
                </a:solidFill>
                <a:effectLst/>
                <a:highlight>
                  <a:srgbClr val="FFFFFF"/>
                </a:highlight>
                <a:uFillTx/>
                <a:latin typeface="Arial"/>
                <a:hlinkClick r:id="rId10"/>
              </a:rPr>
              <a:t>https://www.microsoft.com/en-us/download/details.aspx?id=52398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1011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Arial MT</vt:lpstr>
      <vt:lpstr>Calibri</vt:lpstr>
      <vt:lpstr>Calibri Light</vt:lpstr>
      <vt:lpstr>Noto Sans CJK SC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Paraphrase Detection and Semantic Textual Similarity</vt:lpstr>
      <vt:lpstr>Introduction</vt:lpstr>
      <vt:lpstr>Dataset</vt:lpstr>
      <vt:lpstr>Models used</vt:lpstr>
      <vt:lpstr>Implementation</vt:lpstr>
      <vt:lpstr>Paraphrase Detection Accuracy for 3 Models </vt:lpstr>
      <vt:lpstr>Error Distribution of 3 Models</vt:lpstr>
      <vt:lpstr>STS Score Alignment Across 3 Models </vt:lpstr>
      <vt:lpstr>Test Done on Sample of 300 test cases</vt:lpstr>
      <vt:lpstr>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Paraphrase Detection and Semantic Textual Similarity</dc:title>
  <dc:subject/>
  <dc:creator/>
  <dc:description/>
  <cp:lastModifiedBy>Suchir Okram</cp:lastModifiedBy>
  <cp:revision>39</cp:revision>
  <dcterms:created xsi:type="dcterms:W3CDTF">2026-04-22T14:38:42Z</dcterms:created>
  <dcterms:modified xsi:type="dcterms:W3CDTF">2026-04-22T20:00:42Z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2026-04-22T00:00:00Z</vt:filetime>
  </property>
  <property fmtid="{D5CDD505-2E9C-101B-9397-08002B2CF9AE}" pid="3" name="LastSaved">
    <vt:filetime>2026-04-22T00:00:00Z</vt:filetime>
  </property>
  <property fmtid="{D5CDD505-2E9C-101B-9397-08002B2CF9AE}" pid="4" name="PresentationFormat">
    <vt:lpwstr>On-screen Show (4:3)</vt:lpwstr>
  </property>
  <property fmtid="{D5CDD505-2E9C-101B-9397-08002B2CF9AE}" pid="5" name="Producer">
    <vt:lpwstr>3-Heights™ PDF Merge Split Shell 6.12.1.11 (http://www.pdf-tools.com)</vt:lpwstr>
  </property>
</Properties>
</file>